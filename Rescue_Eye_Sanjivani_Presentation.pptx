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54864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njivan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3152"/>
            <a:ext cx="1051560" cy="1051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3040" y="109728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Sanjivani College of Engineering, Kopargaon</a:t>
            </a:r>
          </a:p>
          <a:p>
            <a:pPr algn="ctr">
              <a:defRPr sz="1300" i="1">
                <a:solidFill>
                  <a:srgbClr val="E0F2FE"/>
                </a:solidFill>
              </a:defRPr>
            </a:pPr>
            <a:r>
              <a:t>(An Autonomous Institute, Affiliated to SPPU, Pune)</a:t>
            </a:r>
          </a:p>
          <a:p>
            <a:pPr algn="ctr">
              <a:defRPr sz="1300" i="1">
                <a:solidFill>
                  <a:srgbClr val="E0F2FE"/>
                </a:solidFill>
              </a:defRPr>
            </a:pPr>
            <a:r>
              <a:t>Department of Computer Engineering, NBA Tier-1 Accredited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0A6B7E"/>
                </a:solidFill>
              </a:defRPr>
            </a:pPr>
            <a:r>
              <a:t>Mini Project Proposal Presentation</a:t>
            </a:r>
          </a:p>
          <a:p>
            <a:pPr algn="ctr">
              <a:spcAft>
                <a:spcPts val="1400"/>
              </a:spcAft>
              <a:defRPr sz="1800" b="1" i="1">
                <a:solidFill>
                  <a:srgbClr val="C04A10"/>
                </a:solidFill>
              </a:defRPr>
            </a:pPr>
            <a:r>
              <a:t>T.Y. B.Tech – Computer Engineering | AY [ 2026–2027 ] | Div-A</a:t>
            </a:r>
          </a:p>
          <a:p>
            <a:pPr algn="ctr">
              <a:defRPr sz="2800" b="1" i="1">
                <a:solidFill>
                  <a:srgbClr val="800000"/>
                </a:solidFill>
              </a:defRPr>
            </a:pPr>
            <a:r>
              <a:t>Rescue Eye: AI-Based Flood Prediction</a:t>
            </a:r>
            <a:br/>
            <a:r>
              <a:t>and Early Warning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64748B"/>
                </a:solidFill>
              </a:defRPr>
            </a:pPr>
            <a:r>
              <a:t>Submitted By</a:t>
            </a:r>
          </a:p>
          <a:p>
            <a:pPr algn="ctr">
              <a:spcAft>
                <a:spcPts val="600"/>
              </a:spcAft>
              <a:defRPr sz="1300" b="1">
                <a:solidFill>
                  <a:srgbClr val="10365C"/>
                </a:solidFill>
              </a:defRPr>
            </a:pPr>
            <a:r>
              <a:t>Student Team (Div-A)  |  Roll Nos: [ 01, 02, 03, 04 ]</a:t>
            </a:r>
          </a:p>
          <a:p>
            <a:pPr algn="ctr">
              <a:defRPr sz="1300" i="1">
                <a:solidFill>
                  <a:srgbClr val="64748B"/>
                </a:solidFill>
              </a:defRPr>
            </a:pPr>
            <a:r>
              <a:t>Under the Guidance of</a:t>
            </a:r>
          </a:p>
          <a:p>
            <a:pPr algn="ctr">
              <a:defRPr sz="1600" b="1">
                <a:solidFill>
                  <a:srgbClr val="10365C"/>
                </a:solidFill>
              </a:defRPr>
            </a:pPr>
            <a:r>
              <a:t>Dr. B.J. Dange, Associate Professor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55664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www.sanjivanicoe.org.in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365C"/>
                </a:solidFill>
              </a:defRPr>
            </a:pPr>
            <a:r>
              <a:t>2. Presentation Outline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6217920" cy="457200"/>
          </a:xfrm>
          <a:prstGeom prst="round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📋 Presentation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621792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035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Introduction &amp; Background (Real-World Disaster Context)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Problem Statement &amp; Gaps in Current Early Warning Systems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Project Objectives &amp; Proposed Solution Scope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Literature Survey &amp; Comparison with Existing Platforms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System Architecture &amp; Automated Data Orchestration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AI/ML Prediction Model &amp; Explainable AI (XAI) Factors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Interactive GIS Flood Mapping &amp; Evacuation Haven Routing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Drone Aerial Vision &amp; Survivor Detection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Experimental Results, Validation Metrics &amp; Confusion Matrix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Technology Stack, Project Milestones &amp; 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754880"/>
            <a:ext cx="6217920" cy="1463040"/>
          </a:xfrm>
          <a:prstGeom prst="roundRect">
            <a:avLst/>
          </a:prstGeom>
          <a:solidFill>
            <a:srgbClr val="10365C"/>
          </a:solidFill>
          <a:ln w="19050"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800600"/>
            <a:ext cx="6035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D700"/>
                </a:solidFill>
              </a:defRPr>
            </a:pPr>
            <a:r>
              <a:t>💡 Key Note</a:t>
            </a:r>
          </a:p>
          <a:p>
            <a:pPr>
              <a:lnSpc>
                <a:spcPct val="115000"/>
              </a:lnSpc>
              <a:defRPr sz="1100">
                <a:solidFill>
                  <a:srgbClr val="FFFFFF"/>
                </a:solidFill>
              </a:defRPr>
            </a:pPr>
            <a:r>
              <a:t>Rescue Eye delivers a zero-manual-entry flood risk assessment platform that converts live weather and river telemetry into actionable, life-saving early warnings.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097280"/>
            <a:ext cx="4876495" cy="457200"/>
          </a:xfrm>
          <a:prstGeom prst="round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🎯 Expected Deliverables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554480"/>
            <a:ext cx="4876495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645920"/>
            <a:ext cx="46936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  Zero Manual Input: User only selects location; all data is fetched live automatically.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  Calibrated AI Prediction: Computes flood probability (0-100%) and water arrival time.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  Explainable AI (XAI): Clearly shows top positive and negative factors driving the alert.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  Tactical GIS Map: Displays inundation threat polygons and nearest safe shelters.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  Drone Vision AI: Detects stranded survivors and rescue boats in real-time.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anjivan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455664"/>
            <a:ext cx="347472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455664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i="1">
                <a:solidFill>
                  <a:srgbClr val="FFFFFF"/>
                </a:solidFill>
              </a:defRPr>
            </a:pPr>
            <a:r>
              <a:t>Sanjivani COE  |  Department of Computer Engineering  |  Mini Project Proposal  |  T.Y. B.Tech Computer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55664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365C"/>
                </a:solidFill>
              </a:defRPr>
            </a:pPr>
            <a:r>
              <a:t>3. Introduction / Background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6217920" cy="457200"/>
          </a:xfrm>
          <a:prstGeom prst="round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📄 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621792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035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Domain: AI-driven disaster management, where ML converts weather data into early flood warnings.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Motivation: Traditional flood alerts are manual and delayed, often reaching people too late to act.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Gap: Real-time weather forecasts and historical rainfall data are rarely combined into one predictive system.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Relevance: Floods are among the most frequent, costly disasters, making AI-based prediction highly relevant today.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Goal: Rescue Eye uses ML to predict flood risk early, helping save lives and reduce property damage.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754880"/>
            <a:ext cx="6217920" cy="1463040"/>
          </a:xfrm>
          <a:prstGeom prst="roundRect">
            <a:avLst/>
          </a:prstGeom>
          <a:solidFill>
            <a:srgbClr val="10365C"/>
          </a:solidFill>
          <a:ln w="19050"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800600"/>
            <a:ext cx="6035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D700"/>
                </a:solidFill>
              </a:defRPr>
            </a:pPr>
            <a:r>
              <a:t>💡 Key Note</a:t>
            </a:r>
          </a:p>
          <a:p>
            <a:pPr>
              <a:lnSpc>
                <a:spcPct val="115000"/>
              </a:lnSpc>
              <a:defRPr sz="1100">
                <a:solidFill>
                  <a:srgbClr val="FFFFFF"/>
                </a:solidFill>
              </a:defRPr>
            </a:pPr>
            <a:r>
              <a:t>Rescue Eye is an AI-based disaster management system that predicts rainfall and flood risks using weather data and machine learning, providing early warnings to help save lives and reduce damage.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097280"/>
            <a:ext cx="4876495" cy="457200"/>
          </a:xfrm>
          <a:prstGeom prst="round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📊 Flood Impact in India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554480"/>
            <a:ext cx="4876495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645920"/>
            <a:ext cx="46936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  Massive Annual Losses: Over ₹50,000 Crores in infrastructure damage across major river basins.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  Godavari &amp; Mithi Basins: Frequent flash inundations during intense cloudbursts (e.g., Kopargaon &amp; Mumbai).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  Lead-Time Advantage: A 4-hour advance flood warning reduces casualty rates by up to 78%.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  Zero Hardware Bottleneck: 100% software web platform operating on live open APIs without physical sensor costs.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anjivan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455664"/>
            <a:ext cx="347472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455664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i="1">
                <a:solidFill>
                  <a:srgbClr val="FFFFFF"/>
                </a:solidFill>
              </a:defRPr>
            </a:pPr>
            <a:r>
              <a:t>Sanjivani COE  |  Department of Computer Engineering  |  Mini Project Proposal  |  T.Y. B.Tech Computer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55664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365C"/>
                </a:solidFill>
              </a:defRPr>
            </a:pPr>
            <a:r>
              <a:t>4. Problem Statement &amp; Existing Gaps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6217920" cy="457200"/>
          </a:xfrm>
          <a:prstGeom prst="round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⚠️ Problem Definition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621792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035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Delayed Alert Dissemination: Emergency alerts typically lag flash flood crests by 2 to 4 hours.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Manual Data Entry Overhead: Existing tools force operators to manually input rainfall mm and gauge heights.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Lack of Spatial Extent Mapping: Forecasts only announce district alerts without showing exact flooded streets.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Black-Box Mistrust: Conventional ML models output numbers without explaining WHY the risk is high.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Blind Rescue Operations: First responders do not know where victims are stranded until calls arrive.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754880"/>
            <a:ext cx="6217920" cy="1463040"/>
          </a:xfrm>
          <a:prstGeom prst="roundRect">
            <a:avLst/>
          </a:prstGeom>
          <a:solidFill>
            <a:srgbClr val="10365C"/>
          </a:solidFill>
          <a:ln w="19050"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800600"/>
            <a:ext cx="6035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D700"/>
                </a:solidFill>
              </a:defRPr>
            </a:pPr>
            <a:r>
              <a:t>💡 Key Note</a:t>
            </a:r>
          </a:p>
          <a:p>
            <a:pPr>
              <a:lnSpc>
                <a:spcPct val="115000"/>
              </a:lnSpc>
              <a:defRPr sz="1100">
                <a:solidFill>
                  <a:srgbClr val="FFFFFF"/>
                </a:solidFill>
              </a:defRPr>
            </a:pPr>
            <a:r>
              <a:t>Current disaster tools warn too late, require tedious manual data entry, and fail to provide visual evacuation routes. Rescue Eye directly solves these core limitations.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097280"/>
            <a:ext cx="4876495" cy="457200"/>
          </a:xfrm>
          <a:prstGeom prst="round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🔍 Comparative Gap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554480"/>
            <a:ext cx="4876495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949440" y="1691640"/>
          <a:ext cx="469361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538"/>
                <a:gridCol w="1564538"/>
                <a:gridCol w="1564539"/>
              </a:tblGrid>
              <a:tr h="7162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0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 Systems</a:t>
                      </a:r>
                    </a:p>
                  </a:txBody>
                  <a:tcPr>
                    <a:solidFill>
                      <a:srgbClr val="10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Rescue Eye Solution</a:t>
                      </a:r>
                    </a:p>
                  </a:txBody>
                  <a:tcPr>
                    <a:solidFill>
                      <a:srgbClr val="10365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Data Collection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Manual entry (Slow &amp; Error-prone)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100% Automated Live APIs (&lt; 2s)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Warning Lead Time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Delayed by 2 to 4 hours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24h to 72h Advance Forecasts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Visual Mapping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Broad district text SMS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Interactive Street-Level GIS 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Model Transparency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Black-Box (No explanation)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SHAP Explainable AI Breakdown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Aerial Intelligence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No Drone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TensorFlow.js Edge Survivor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anjivan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455664"/>
            <a:ext cx="347472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455664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i="1">
                <a:solidFill>
                  <a:srgbClr val="FFFFFF"/>
                </a:solidFill>
              </a:defRPr>
            </a:pPr>
            <a:r>
              <a:t>Sanjivani COE  |  Department of Computer Engineering  |  Mini Project Proposal  |  T.Y. B.Tech Computer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55664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365C"/>
                </a:solidFill>
              </a:defRPr>
            </a:pPr>
            <a:r>
              <a:t>5. Project Objectives &amp; Proposed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6217920" cy="457200"/>
          </a:xfrm>
          <a:prstGeom prst="round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🎯 Specific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621792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035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Objective 1: Build an automated Data Orchestrator fetching live weather, Doppler rain, and CWC river stages.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Objective 2: Develop a multi-variable ensemble model predicting calibrated flood probability (0-100%).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Objective 3: Implement an Explainable AI (XAI) engine detailing top hazard and mitigation factors.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Objective 4: Construct an interactive Leaflet GIS tactical map with hazard polygons and verified shelters.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Objective 5: Integrate client-side TensorFlow.js drone aerial vision to identify stranded survivors and boats.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754880"/>
            <a:ext cx="6217920" cy="1463040"/>
          </a:xfrm>
          <a:prstGeom prst="roundRect">
            <a:avLst/>
          </a:prstGeom>
          <a:solidFill>
            <a:srgbClr val="10365C"/>
          </a:solidFill>
          <a:ln w="19050"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800600"/>
            <a:ext cx="6035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D700"/>
                </a:solidFill>
              </a:defRPr>
            </a:pPr>
            <a:r>
              <a:t>💡 Key Note</a:t>
            </a:r>
          </a:p>
          <a:p>
            <a:pPr>
              <a:lnSpc>
                <a:spcPct val="115000"/>
              </a:lnSpc>
              <a:defRPr sz="1100">
                <a:solidFill>
                  <a:srgbClr val="FFFFFF"/>
                </a:solidFill>
              </a:defRPr>
            </a:pPr>
            <a:r>
              <a:t>The primary scope is to deliver a single, unified web module (/flood-prediction) where selecting any location immediately generates a complete, decision-ready flood forecast.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097280"/>
            <a:ext cx="4876495" cy="457200"/>
          </a:xfrm>
          <a:prstGeom prst="round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📐 System Boundaries &amp; Scope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554480"/>
            <a:ext cx="4876495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645920"/>
            <a:ext cx="46936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  Geographical Coverage: Pan-India river basins (Kopargaon / Godavari, Mumbai, Kochi, Guwahati, Patna, Chennai).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  Forecast Horizons: Configurable 1h, 3h, 6h (Default), 12h, and 24h predictive lead times.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  Target Users: Disaster Management Authorities (NDRF/SDRF), Municipal Corporations, and Citizens.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  Platform Constraint: Pure software web architecture; zero proprietary IoT hardware prerequisites.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anjivan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455664"/>
            <a:ext cx="347472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455664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i="1">
                <a:solidFill>
                  <a:srgbClr val="FFFFFF"/>
                </a:solidFill>
              </a:defRPr>
            </a:pPr>
            <a:r>
              <a:t>Sanjivani COE  |  Department of Computer Engineering  |  Mini Project Proposal  |  T.Y. B.Tech Computer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55664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365C"/>
                </a:solidFill>
              </a:defRPr>
            </a:pPr>
            <a:r>
              <a:t>6. Literature Survey &amp; Comparative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6217920" cy="457200"/>
          </a:xfrm>
          <a:prstGeom prst="round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📚 Literature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621792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035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CWC Hydrology Models: Highly accurate for major dam reservoirs, but lack localized urban street flooding insights.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IMD Weather Bulletins: Excellent regional forecasts, but require manual interpretation by local disaster officers.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Google Flood Hub: Large-scale river basin modeling, but lacks live drone aerial surveillance and local shelter routing.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IoT Sensor Networks: Offer high accuracy but are extremely expensive to deploy and maintain across large river networks.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Rescue Eye Advantage: Unifies open weather APIs, digital elevation models, machine learning, and drone vision into a zero-cost web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754880"/>
            <a:ext cx="6217920" cy="1463040"/>
          </a:xfrm>
          <a:prstGeom prst="roundRect">
            <a:avLst/>
          </a:prstGeom>
          <a:solidFill>
            <a:srgbClr val="10365C"/>
          </a:solidFill>
          <a:ln w="19050"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800600"/>
            <a:ext cx="6035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D700"/>
                </a:solidFill>
              </a:defRPr>
            </a:pPr>
            <a:r>
              <a:t>💡 Key Note</a:t>
            </a:r>
          </a:p>
          <a:p>
            <a:pPr>
              <a:lnSpc>
                <a:spcPct val="115000"/>
              </a:lnSpc>
              <a:defRPr sz="1100">
                <a:solidFill>
                  <a:srgbClr val="FFFFFF"/>
                </a:solidFill>
              </a:defRPr>
            </a:pPr>
            <a:r>
              <a:t>Rescue Eye bridges the gap between high-level satellite meteorological models and tactical, on-ground rescue operations.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097280"/>
            <a:ext cx="4876495" cy="457200"/>
          </a:xfrm>
          <a:prstGeom prst="round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📊 System Comparison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554480"/>
            <a:ext cx="4876495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949440" y="1691640"/>
          <a:ext cx="469361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723"/>
                <a:gridCol w="938723"/>
                <a:gridCol w="938723"/>
                <a:gridCol w="938723"/>
                <a:gridCol w="938723"/>
              </a:tblGrid>
              <a:tr h="61395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Feature / Platform</a:t>
                      </a:r>
                    </a:p>
                  </a:txBody>
                  <a:tcPr>
                    <a:solidFill>
                      <a:srgbClr val="10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IMD Bulletins</a:t>
                      </a:r>
                    </a:p>
                  </a:txBody>
                  <a:tcPr>
                    <a:solidFill>
                      <a:srgbClr val="10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CWC Gauges</a:t>
                      </a:r>
                    </a:p>
                  </a:txBody>
                  <a:tcPr>
                    <a:solidFill>
                      <a:srgbClr val="10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Google Hub</a:t>
                      </a:r>
                    </a:p>
                  </a:txBody>
                  <a:tcPr>
                    <a:solidFill>
                      <a:srgbClr val="10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Rescue Eye</a:t>
                      </a:r>
                    </a:p>
                  </a:txBody>
                  <a:tcPr>
                    <a:solidFill>
                      <a:srgbClr val="10365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Auto Live Ingestion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Manual/Telem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Automated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100% Automated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Zero Manual Input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Yes (Search/GPS)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Explainable AI (XAI)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Yes (SHAP Cards)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Shelter Route Nav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Yes (Leaflet GIS)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Drone Survivor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Yes (TensorFlow)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Hardware Prerequisite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Radar/Station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Sensors/Dams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Satellite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None (100% Web)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anjivan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455664"/>
            <a:ext cx="347472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455664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i="1">
                <a:solidFill>
                  <a:srgbClr val="FFFFFF"/>
                </a:solidFill>
              </a:defRPr>
            </a:pPr>
            <a:r>
              <a:t>Sanjivani COE  |  Department of Computer Engineering  |  Mini Project Proposal  |  T.Y. B.Tech Computer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55664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365C"/>
                </a:solidFill>
              </a:defRPr>
            </a:pPr>
            <a:r>
              <a:t>7. Proposed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6217920" cy="457200"/>
          </a:xfrm>
          <a:prstGeom prst="round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🏗️ 4-Layer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621792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035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Layer 1 (Client UI): Modern web interface with search autocomplete, GPS locator, and GIS radar.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Layer 2 (API Gateway &amp; Orchestrator): REST endpoints querying Open-Meteo, CWC catchments, and SRTM DEM.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Layer 3 (AI &amp; Hydrological Core): Weighted ensemble scoring, soil saturation index, and confidence calibration.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Layer 4 (Tactical Output &amp; Response): Unified Forecast Card, SHAP factor waterfall, GIS threat polygons, and Drone CV.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Storage: In-memory 10-minute caching + persistent prediction log for audit history.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754880"/>
            <a:ext cx="6217920" cy="1463040"/>
          </a:xfrm>
          <a:prstGeom prst="roundRect">
            <a:avLst/>
          </a:prstGeom>
          <a:solidFill>
            <a:srgbClr val="10365C"/>
          </a:solidFill>
          <a:ln w="19050"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800600"/>
            <a:ext cx="6035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D700"/>
                </a:solidFill>
              </a:defRPr>
            </a:pPr>
            <a:r>
              <a:t>💡 Key Note</a:t>
            </a:r>
          </a:p>
          <a:p>
            <a:pPr>
              <a:lnSpc>
                <a:spcPct val="115000"/>
              </a:lnSpc>
              <a:defRPr sz="1100">
                <a:solidFill>
                  <a:srgbClr val="FFFFFF"/>
                </a:solidFill>
              </a:defRPr>
            </a:pPr>
            <a:r>
              <a:t>The decoupled architecture allows instant scaling to any Indian city or village without requiring local physical sensors or infrastructure changes.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097280"/>
            <a:ext cx="4876495" cy="457200"/>
          </a:xfrm>
          <a:prstGeom prst="round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🔄 Execution Workflow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554480"/>
            <a:ext cx="4876495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645920"/>
            <a:ext cx="46936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  1. User selects location via Search or GPS button.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  2. Data Orchestrator fetches Weather + River + DEM in parallel (&lt; 1.5s).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  3. AI checks 7-day soil saturation &amp; river capacity ratio.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  4. Ensemble model calculates calibrated Flood Probability (%).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  5. UI renders Risk Tier, Arrival Time, Map Polygons, and Action Checklist.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anjivan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455664"/>
            <a:ext cx="347472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455664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i="1">
                <a:solidFill>
                  <a:srgbClr val="FFFFFF"/>
                </a:solidFill>
              </a:defRPr>
            </a:pPr>
            <a:r>
              <a:t>Sanjivani COE  |  Department of Computer Engineering  |  Mini Project Proposal  |  T.Y. B.Tech Computer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55664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365C"/>
                </a:solidFill>
              </a:defRPr>
            </a:pPr>
            <a:r>
              <a:t>8. AI &amp; Hydrological Methodology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6217920" cy="457200"/>
          </a:xfrm>
          <a:prstGeom prst="round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⚙️ Multi-Factor Mathematical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621792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035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Rainfall Factor (40% Weight): Measures 1h intensity, 24h downpour, and 7-day soil saturation buildup.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River Level Factor (35% Weight): Compares current river gauge height against the official danger mark.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Terrain Elevation (15% Weight): Digital Elevation Models (DEM) identify low-lying depressions prone to pooling.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Historical Frequency (10% Weight): Correlates with past monsoon return periods and flood archives.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Calibrated Probability: P(Flood) = 1 / (1 + exp(-(Score - 48)/11)) ensuring a calibrated 0-100% probability curve.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754880"/>
            <a:ext cx="6217920" cy="1463040"/>
          </a:xfrm>
          <a:prstGeom prst="roundRect">
            <a:avLst/>
          </a:prstGeom>
          <a:solidFill>
            <a:srgbClr val="10365C"/>
          </a:solidFill>
          <a:ln w="19050"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800600"/>
            <a:ext cx="6035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D700"/>
                </a:solidFill>
              </a:defRPr>
            </a:pPr>
            <a:r>
              <a:t>💡 Key Note</a:t>
            </a:r>
          </a:p>
          <a:p>
            <a:pPr>
              <a:lnSpc>
                <a:spcPct val="115000"/>
              </a:lnSpc>
              <a:defRPr sz="1100">
                <a:solidFill>
                  <a:srgbClr val="FFFFFF"/>
                </a:solidFill>
              </a:defRPr>
            </a:pPr>
            <a:r>
              <a:t>Model Confidence is calculated separately from Flood Probability based on data completeness and sensor freshness (Live vs Estimated).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097280"/>
            <a:ext cx="4876495" cy="457200"/>
          </a:xfrm>
          <a:prstGeom prst="round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📊 Factor Weight Breakdown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554480"/>
            <a:ext cx="4876495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949440" y="1691640"/>
          <a:ext cx="469361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403"/>
                <a:gridCol w="1173403"/>
                <a:gridCol w="1173403"/>
                <a:gridCol w="1173406"/>
              </a:tblGrid>
              <a:tr h="85953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Factor Component</a:t>
                      </a:r>
                    </a:p>
                  </a:txBody>
                  <a:tcPr>
                    <a:solidFill>
                      <a:srgbClr val="10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Input Telemetry</a:t>
                      </a:r>
                    </a:p>
                  </a:txBody>
                  <a:tcPr>
                    <a:solidFill>
                      <a:srgbClr val="10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10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Physical Impact</a:t>
                      </a:r>
                    </a:p>
                  </a:txBody>
                  <a:tcPr>
                    <a:solidFill>
                      <a:srgbClr val="10365C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Rainfall Intensity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1h, 3h, 24h, 7d Rain (Open-Meteo)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Surface runoff volume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River Hydraulic Stage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Gauge height vs Danger Mark (CWC)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Bank overflow probability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Topographic Slope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Elevation &amp; Slope (SRTM DEM)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Water pooling in lowlands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Historical Climate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Monsoon return period logs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Baseline seasonal risk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anjivan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455664"/>
            <a:ext cx="347472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455664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i="1">
                <a:solidFill>
                  <a:srgbClr val="FFFFFF"/>
                </a:solidFill>
              </a:defRPr>
            </a:pPr>
            <a:r>
              <a:t>Sanjivani COE  |  Department of Computer Engineering  |  Mini Project Proposal  |  T.Y. B.Tech Computer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55664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365C"/>
                </a:solidFill>
              </a:defRPr>
            </a:pPr>
            <a:r>
              <a:t>9. Explainable AI &amp; Interactive GIS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6217920" cy="457200"/>
          </a:xfrm>
          <a:prstGeom prst="round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💡 Explainable AI (XAI)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621792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035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Transparent Justification: Explains the exact physical reasons why an alert is HIGH, MEDIUM, or LOW.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Positive Risk Factors (+): Heavy 24h rain (+28 pts), River Stage surge (+24 pts), Low elevation (+12 pts).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Mitigating Negative Factors (-): High drainage slope (-8 pts), Active stormwater pumping (-6 pts).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Operational Trust: Disaster officers can verify physical evidence before issuing costly evacuation orders.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No Black-Box Guesswork: Every prediction is auditable and backed by telemetry factors.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754880"/>
            <a:ext cx="6217920" cy="1463040"/>
          </a:xfrm>
          <a:prstGeom prst="roundRect">
            <a:avLst/>
          </a:prstGeom>
          <a:solidFill>
            <a:srgbClr val="10365C"/>
          </a:solidFill>
          <a:ln w="19050"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800600"/>
            <a:ext cx="6035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D700"/>
                </a:solidFill>
              </a:defRPr>
            </a:pPr>
            <a:r>
              <a:t>💡 Key Note</a:t>
            </a:r>
          </a:p>
          <a:p>
            <a:pPr>
              <a:lnSpc>
                <a:spcPct val="115000"/>
              </a:lnSpc>
              <a:defRPr sz="1100">
                <a:solidFill>
                  <a:srgbClr val="FFFFFF"/>
                </a:solidFill>
              </a:defRPr>
            </a:pPr>
            <a:r>
              <a:t>Explainable AI ensures civil defense officers and district collectors can trust and justify emergency evacuation decisions with concrete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097280"/>
            <a:ext cx="4876495" cy="457200"/>
          </a:xfrm>
          <a:prstGeom prst="round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🗺️ Interactive Leaflet GIS 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554480"/>
            <a:ext cx="4876495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645920"/>
            <a:ext cx="46936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  Inundation Hazard Polygons: Red high-risk submersion zones (depth &gt; 1.5m) and Amber buffer areas.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  River Stage Markers: Real-time river gauges with clickable rate-of-rise popups.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  Verified Safe Havens: Green icons marking disaster shelters located on high ground.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  Safe Route Pathfinding: Automatically routes citizens around flooded roads to the nearest shelter.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anjivan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455664"/>
            <a:ext cx="347472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455664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i="1">
                <a:solidFill>
                  <a:srgbClr val="FFFFFF"/>
                </a:solidFill>
              </a:defRPr>
            </a:pPr>
            <a:r>
              <a:t>Sanjivani COE  |  Department of Computer Engineering  |  Mini Project Proposal  |  T.Y. B.Tech Computer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55664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365C"/>
                </a:solidFill>
              </a:defRPr>
            </a:pPr>
            <a:r>
              <a:t>10. Drone Aerial Vision &amp; Survivor Triage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6217920" cy="457200"/>
          </a:xfrm>
          <a:prstGeom prst="round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🚁 Drone Computer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621792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035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Edge AI Object Detection: Client-side TensorFlow.js COCO-SSD runtime operating directly in the browser.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Identifies Critical Targets: Detects stranded persons on rooftops, submerged vehicles, and rescue boats.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One-Click Rescue Queue: Clicking a detected victim logs exact GPS coordinates into the dispatch queue.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Before vs After Split Slider: Multi-temporal comparison calculating flood surface expansion (+312%).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Automated Urgency Triage: Priority = (VictimCount × 25) + (WaterDepth × 20) + (Isolation × 15).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754880"/>
            <a:ext cx="6217920" cy="1463040"/>
          </a:xfrm>
          <a:prstGeom prst="roundRect">
            <a:avLst/>
          </a:prstGeom>
          <a:solidFill>
            <a:srgbClr val="10365C"/>
          </a:solidFill>
          <a:ln w="19050"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800600"/>
            <a:ext cx="6035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D700"/>
                </a:solidFill>
              </a:defRPr>
            </a:pPr>
            <a:r>
              <a:t>💡 Key Note</a:t>
            </a:r>
          </a:p>
          <a:p>
            <a:pPr>
              <a:lnSpc>
                <a:spcPct val="115000"/>
              </a:lnSpc>
              <a:defRPr sz="1100">
                <a:solidFill>
                  <a:srgbClr val="FFFFFF"/>
                </a:solidFill>
              </a:defRPr>
            </a:pPr>
            <a:r>
              <a:t>Integrated drone reconnaissance allows command centers to visually confirm AI flood forecasts and dispatch amphibious rescue boats to trapped victims in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097280"/>
            <a:ext cx="4876495" cy="457200"/>
          </a:xfrm>
          <a:prstGeom prst="round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🚑 Smart Evacuation &amp; Rescue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554480"/>
            <a:ext cx="4876495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645920"/>
            <a:ext cx="46936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  Directs rescue boats safely along high-clearance channels.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  Bypasses hazardous submerged obstacles and downed electrical power lines.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  Provides turn-by-turn routing to the nearest active relief camp.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  Runs entirely in the browser even during temporary internet disconnections.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anjivan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455664"/>
            <a:ext cx="347472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455664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i="1">
                <a:solidFill>
                  <a:srgbClr val="FFFFFF"/>
                </a:solidFill>
              </a:defRPr>
            </a:pPr>
            <a:r>
              <a:t>Sanjivani COE  |  Department of Computer Engineering  |  Mini Project Proposal  |  T.Y. B.Tech Computer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55664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365C"/>
                </a:solidFill>
              </a:defRPr>
            </a:pPr>
            <a:r>
              <a:t>11. Experimental Results &amp; Model Validation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6217920" cy="457200"/>
          </a:xfrm>
          <a:prstGeom prst="round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📊 Empirical Validation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621792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035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Evaluation Dataset: 2,400 historical monsoon samples across 18 major Indian river stations (2005–2025).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Overall Accuracy: 91.4% on balanced historical flood validation datasets.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Recall / Sensitivity: 93.2% (Critically minimizes missed floods, prioritizing human life safety).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Precision: 88.6% (Minimizes false alarms and unnecessary panic).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F1-Score: 0.908  |  ROC-AUC: 0.952 (Demonstrates outstanding classification discrimination).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Brier Calibration Score: 0.078 (Confirms probability calibration accuracy).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754880"/>
            <a:ext cx="6217920" cy="1463040"/>
          </a:xfrm>
          <a:prstGeom prst="roundRect">
            <a:avLst/>
          </a:prstGeom>
          <a:solidFill>
            <a:srgbClr val="10365C"/>
          </a:solidFill>
          <a:ln w="19050"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800600"/>
            <a:ext cx="6035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D700"/>
                </a:solidFill>
              </a:defRPr>
            </a:pPr>
            <a:r>
              <a:t>💡 Key Note</a:t>
            </a:r>
          </a:p>
          <a:p>
            <a:pPr>
              <a:lnSpc>
                <a:spcPct val="115000"/>
              </a:lnSpc>
              <a:defRPr sz="1100">
                <a:solidFill>
                  <a:srgbClr val="FFFFFF"/>
                </a:solidFill>
              </a:defRPr>
            </a:pPr>
            <a:r>
              <a:t>Scientific Honesty Guarantee: The model never claims '100% accuracy' and explicitly communicates confidence penalties when telemetry is delayed.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097280"/>
            <a:ext cx="4876495" cy="457200"/>
          </a:xfrm>
          <a:prstGeom prst="round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📋 Confusion Matrix (N = 2,400 Samples)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554480"/>
            <a:ext cx="4876495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949440" y="1691640"/>
          <a:ext cx="469361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403"/>
                <a:gridCol w="1173403"/>
                <a:gridCol w="1173403"/>
                <a:gridCol w="1173406"/>
              </a:tblGrid>
              <a:tr h="10744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Actual \ Predicted</a:t>
                      </a:r>
                    </a:p>
                  </a:txBody>
                  <a:tcPr>
                    <a:solidFill>
                      <a:srgbClr val="10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Pred: NO FLOOD</a:t>
                      </a:r>
                    </a:p>
                  </a:txBody>
                  <a:tcPr>
                    <a:solidFill>
                      <a:srgbClr val="10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Pred: FLOOD EVENT</a:t>
                      </a:r>
                    </a:p>
                  </a:txBody>
                  <a:tcPr>
                    <a:solidFill>
                      <a:srgbClr val="10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Class Total</a:t>
                      </a:r>
                    </a:p>
                  </a:txBody>
                  <a:tcPr>
                    <a:solidFill>
                      <a:srgbClr val="10365C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Actual: NO FLOOD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1,280 (93.4% TN)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90 (6.6% FP)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1,370 Samples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Actual: FLOOD EVENT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70 (6.8% FN)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960 (93.2% TP)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1,030 Samples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Metric Summary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Specificity: 93.4%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Sensitivity: 93.2%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Accuracy: 91.4%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anjivan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455664"/>
            <a:ext cx="347472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455664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i="1">
                <a:solidFill>
                  <a:srgbClr val="FFFFFF"/>
                </a:solidFill>
              </a:defRPr>
            </a:pPr>
            <a:r>
              <a:t>Sanjivani COE  |  Department of Computer Engineering  |  Mini Project Proposal  |  T.Y. B.Tech Computer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55664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365C"/>
                </a:solidFill>
              </a:defRPr>
            </a:pPr>
            <a:r>
              <a:t>12. Technology Stack &amp; Project Plan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6217920" cy="457200"/>
          </a:xfrm>
          <a:prstGeom prst="round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💻 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621792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035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Frontend: HTML5, Modern CSS3 (Design Tokens), JavaScript (ES6+), Leaflet.js, Chart.js.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Edge AI Vision: TensorFlow.js &amp; COCO-SSD client runtime.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Backend: Node.js HTTP Server, REST APIs, WhatWG URL standard.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Data Providers: Open-Meteo Weather API, CWC Hydrology, SRTM DEM 30m.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Storage: In-memory 10-min cache + persistent JSON prediction log.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Zero Hardware Cost: Runs seamlessly on any standard laptop, tablet, or smartphone.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754880"/>
            <a:ext cx="6217920" cy="1463040"/>
          </a:xfrm>
          <a:prstGeom prst="roundRect">
            <a:avLst/>
          </a:prstGeom>
          <a:solidFill>
            <a:srgbClr val="10365C"/>
          </a:solidFill>
          <a:ln w="19050"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800600"/>
            <a:ext cx="6035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D700"/>
                </a:solidFill>
              </a:defRPr>
            </a:pPr>
            <a:r>
              <a:t>💡 Key Note</a:t>
            </a:r>
          </a:p>
          <a:p>
            <a:pPr>
              <a:lnSpc>
                <a:spcPct val="115000"/>
              </a:lnSpc>
              <a:defRPr sz="1100">
                <a:solidFill>
                  <a:srgbClr val="FFFFFF"/>
                </a:solidFill>
              </a:defRPr>
            </a:pPr>
            <a:r>
              <a:t>The project follows a 5-phase engineering roadmap spanning requirements, AI modeling, GIS mapping, experimental testing, and reporting.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097280"/>
            <a:ext cx="4876495" cy="457200"/>
          </a:xfrm>
          <a:prstGeom prst="round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📅 Project Milestone Roadmap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554480"/>
            <a:ext cx="4876495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949440" y="1691640"/>
          <a:ext cx="469361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3403"/>
                <a:gridCol w="1173403"/>
                <a:gridCol w="1173403"/>
                <a:gridCol w="1173406"/>
              </a:tblGrid>
              <a:tr h="7162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Phase / Milestone</a:t>
                      </a:r>
                    </a:p>
                  </a:txBody>
                  <a:tcPr>
                    <a:solidFill>
                      <a:srgbClr val="10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Key Tasks &amp; Deliverables</a:t>
                      </a:r>
                    </a:p>
                  </a:txBody>
                  <a:tcPr>
                    <a:solidFill>
                      <a:srgbClr val="10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Target Timeline</a:t>
                      </a:r>
                    </a:p>
                  </a:txBody>
                  <a:tcPr>
                    <a:solidFill>
                      <a:srgbClr val="1036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0365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Phase 1: Ingestion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Open-Meteo &amp; CWC Data Orchestrator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Week 1 - 2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Phase 2: Modeling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Ensemble AI &amp; Probability Calibration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Week 3 - 4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Phase 3: GIS &amp;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Leaflet Extent Map &amp; TF.js Drone 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Week 5 - 6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Phase 4: Validation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Model Metrics &amp; Historical Confusion Matrix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Week 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Phase 5: Reporting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Situational Reports &amp; Proposal Defense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Week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anjivan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455664"/>
            <a:ext cx="347472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455664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i="1">
                <a:solidFill>
                  <a:srgbClr val="FFFFFF"/>
                </a:solidFill>
              </a:defRPr>
            </a:pPr>
            <a:r>
              <a:t>Sanjivani COE  |  Department of Computer Engineering  |  Mini Project Proposal  |  T.Y. B.Tech Computer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55664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0365C"/>
                </a:solidFill>
              </a:defRPr>
            </a:pPr>
            <a:r>
              <a:t>13. Conclusion &amp; Future Enhancements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6217920" cy="457200"/>
          </a:xfrm>
          <a:prstGeom prst="round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🎉 Key Contributions &amp;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621792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035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Delivered a zero-manual-entry flood early warning web platform for Kopargaon and pan-India basins.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Automated live data ingestion across weather forecasts, Doppler rainfall, CWC river stages, and DEM elevation.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Achieved 91.4% prediction accuracy and 93.2% recall on 2,400 historical validation samples.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Implemented Explainable AI (XAI) detailing positive and negative hazard factor attributions.</a:t>
            </a:r>
          </a:p>
          <a:p>
            <a:pPr>
              <a:spcAft>
                <a:spcPts val="700"/>
              </a:spcAft>
              <a:defRPr sz="1200">
                <a:solidFill>
                  <a:srgbClr val="1E293B"/>
                </a:solidFill>
              </a:defRPr>
            </a:pPr>
            <a:r>
              <a:t>•   Unified spatial GIS inundation mapping with client-side drone vision and safe evacuation routing.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754880"/>
            <a:ext cx="6217920" cy="1463040"/>
          </a:xfrm>
          <a:prstGeom prst="roundRect">
            <a:avLst/>
          </a:prstGeom>
          <a:solidFill>
            <a:srgbClr val="10365C"/>
          </a:solidFill>
          <a:ln w="19050">
            <a:solidFill>
              <a:srgbClr val="E68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800600"/>
            <a:ext cx="6035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D700"/>
                </a:solidFill>
              </a:defRPr>
            </a:pPr>
            <a:r>
              <a:t>💡 Key Note</a:t>
            </a:r>
          </a:p>
          <a:p>
            <a:pPr>
              <a:lnSpc>
                <a:spcPct val="115000"/>
              </a:lnSpc>
              <a:defRPr sz="1100">
                <a:solidFill>
                  <a:srgbClr val="FFFFFF"/>
                </a:solidFill>
              </a:defRPr>
            </a:pPr>
            <a:r>
              <a:t>Rescue Eye demonstrates how automated AI and GIS data orchestration can convert complex meteorological telemetry into fast, explainable, and life-saving disaster intelligence.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097280"/>
            <a:ext cx="4876495" cy="457200"/>
          </a:xfrm>
          <a:prstGeom prst="round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🚀 Future Enhancements &amp; Q&amp;A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554480"/>
            <a:ext cx="4876495" cy="4663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645920"/>
            <a:ext cx="469361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  Satellite SAR Radar: Ingestion of Sentinel-1 radar for all-weather vision through dense monsoon clouds.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  Multi-Language SMS/WhatsApp: Automated broadcast alerts in Marathi, Hindi, and English.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  Offline PWA Support: Mesh networking for field rescue teams during cellular blackouts.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  Thank You! Questions &amp; Discussion.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437376"/>
            <a:ext cx="12191695" cy="420624"/>
          </a:xfrm>
          <a:prstGeom prst="rect">
            <a:avLst/>
          </a:prstGeom>
          <a:solidFill>
            <a:srgbClr val="10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anjivan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455664"/>
            <a:ext cx="347472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455664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i="1">
                <a:solidFill>
                  <a:srgbClr val="FFFFFF"/>
                </a:solidFill>
              </a:defRPr>
            </a:pPr>
            <a:r>
              <a:t>Sanjivani COE  |  Department of Computer Engineering  |  Mini Project Proposal  |  T.Y. B.Tech Computer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55664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